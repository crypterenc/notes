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cwnd (MSS)</c:v>
                </c:pt>
              </c:strCache>
            </c:strRef>
          </c:tx>
          <c:spPr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Sheet1!$A$2:$A$17</c:f>
              <c:strCach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  <c:pt idx="4">
                  <c:v>18</c:v>
                </c:pt>
                <c:pt idx="5">
                  <c:v>20</c:v>
                </c:pt>
                <c:pt idx="6">
                  <c:v>20</c:v>
                </c:pt>
                <c:pt idx="7">
                  <c:v>2</c:v>
                </c:pt>
                <c:pt idx="8">
                  <c:v>4</c:v>
                </c:pt>
                <c:pt idx="9">
                  <c:v>8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7</c:v>
                </c:pt>
                <c:pt idx="14">
                  <c:v>8</c:v>
                </c:pt>
                <c:pt idx="15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544-4C1C-BEC6-342E7301566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E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E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B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1878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70832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Layer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• Congestion Control • Flow Control • Timers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2286000"/>
            <a:ext cx="4572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Networks &amp; Systems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2743200" cy="475488"/>
          </a:xfrm>
          <a:prstGeom prst="rect">
            <a:avLst/>
          </a:prstGeom>
          <a:solidFill>
            <a:srgbClr val="0D2D4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08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Fundamentals &amp; Segment Format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55848" y="3063240"/>
            <a:ext cx="2743200" cy="475488"/>
          </a:xfrm>
          <a:prstGeom prst="rect">
            <a:avLst/>
          </a:prstGeom>
          <a:solidFill>
            <a:srgbClr val="0D2D4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3108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&amp; Error Control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54496" y="3063240"/>
            <a:ext cx="2743200" cy="475488"/>
          </a:xfrm>
          <a:prstGeom prst="rect">
            <a:avLst/>
          </a:prstGeom>
          <a:solidFill>
            <a:srgbClr val="0D2D4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5936" y="3108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Connection Management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2743200" cy="475488"/>
          </a:xfrm>
          <a:prstGeom prst="rect">
            <a:avLst/>
          </a:prstGeom>
          <a:solidFill>
            <a:srgbClr val="0D2D4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749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Windows &amp; ACK Rules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55848" y="3703320"/>
            <a:ext cx="2743200" cy="475488"/>
          </a:xfrm>
          <a:prstGeom prst="rect">
            <a:avLst/>
          </a:prstGeom>
          <a:solidFill>
            <a:srgbClr val="0D2D4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47288" y="3749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Timers &amp; RTO Calculation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54496" y="3703320"/>
            <a:ext cx="2743200" cy="475488"/>
          </a:xfrm>
          <a:prstGeom prst="rect">
            <a:avLst/>
          </a:prstGeom>
          <a:solidFill>
            <a:srgbClr val="0D2D4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5936" y="3749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(AIMD)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– Transmission Control Protocol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reliable, ordered, connection-oriented communication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161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Connection-Oriented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783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establishes a virtual connection (three-way handshake) before any data is sent. This guarantees both ends are ready.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88720"/>
            <a:ext cx="27432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2161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Full-Duplex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51960" y="1783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↔️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83280" y="242316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simultaneously in both directions within a single TCP connection — sender and receiver roles exist on both sides.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188720"/>
            <a:ext cx="27432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2161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&amp; Error Control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23760" y="1783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55080" y="242316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uses receive windows (rwnd) to pace data and sequence numbers / ACKs to detect and retransmit lost or corrupted segments.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654296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Key: TCP is byte-stream, not message-oriented. Data is divided into segments and each byte is numbered for reliable delivery.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Process-to-Process Delivery: Well-Known Ports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uses port numbers to identify the application-layer process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22960" cy="384048"/>
          </a:xfrm>
          <a:prstGeom prst="rect">
            <a:avLst/>
          </a:prstGeom>
          <a:solidFill>
            <a:srgbClr val="0A2342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22529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1188720"/>
            <a:ext cx="1463040" cy="384048"/>
          </a:xfrm>
          <a:prstGeom prst="rect">
            <a:avLst/>
          </a:prstGeom>
          <a:solidFill>
            <a:srgbClr val="0A2342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2252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5486400" cy="384048"/>
          </a:xfrm>
          <a:prstGeom prst="rect">
            <a:avLst/>
          </a:prstGeom>
          <a:solidFill>
            <a:srgbClr val="0A2342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24328" y="122529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572768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160934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7280" y="1572768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16093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1572768"/>
            <a:ext cx="5486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24328" y="160934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Echoes a received datagram back to the sender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956816"/>
            <a:ext cx="822960" cy="384048"/>
          </a:xfrm>
          <a:prstGeom prst="rect">
            <a:avLst/>
          </a:prstGeom>
          <a:solidFill>
            <a:srgbClr val="EBF5FB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199339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1956816"/>
            <a:ext cx="1463040" cy="384048"/>
          </a:xfrm>
          <a:prstGeom prst="rect">
            <a:avLst/>
          </a:prstGeom>
          <a:solidFill>
            <a:srgbClr val="EBF5FB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61288" y="19933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0" y="1956816"/>
            <a:ext cx="5486400" cy="384048"/>
          </a:xfrm>
          <a:prstGeom prst="rect">
            <a:avLst/>
          </a:prstGeom>
          <a:solidFill>
            <a:srgbClr val="EBF5FB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24328" y="199339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Transfer Protocol (data &amp; control connections)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340864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" y="23774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97280" y="2340864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61288" y="23774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TELNET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0" y="2340864"/>
            <a:ext cx="5486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24328" y="237744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Network – remote login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2724912"/>
            <a:ext cx="822960" cy="384048"/>
          </a:xfrm>
          <a:prstGeom prst="rect">
            <a:avLst/>
          </a:prstGeom>
          <a:solidFill>
            <a:srgbClr val="EBF5FB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" y="276148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97280" y="2724912"/>
            <a:ext cx="1463040" cy="384048"/>
          </a:xfrm>
          <a:prstGeom prst="rect">
            <a:avLst/>
          </a:prstGeom>
          <a:solidFill>
            <a:srgbClr val="EBF5FB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61288" y="27614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60320" y="2724912"/>
            <a:ext cx="5486400" cy="384048"/>
          </a:xfrm>
          <a:prstGeom prst="rect">
            <a:avLst/>
          </a:prstGeom>
          <a:solidFill>
            <a:srgbClr val="EBF5FB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24328" y="276148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Mail Transfer Protocol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108960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" y="31455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97280" y="3108960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61288" y="31455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560320" y="3108960"/>
            <a:ext cx="5486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24328" y="314553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Name Server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3493008"/>
            <a:ext cx="822960" cy="384048"/>
          </a:xfrm>
          <a:prstGeom prst="rect">
            <a:avLst/>
          </a:prstGeom>
          <a:solidFill>
            <a:srgbClr val="EBF5FB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" y="352958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97280" y="3493008"/>
            <a:ext cx="1463040" cy="384048"/>
          </a:xfrm>
          <a:prstGeom prst="rect">
            <a:avLst/>
          </a:prstGeom>
          <a:solidFill>
            <a:srgbClr val="EBF5FB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61288" y="352958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560320" y="3493008"/>
            <a:ext cx="5486400" cy="384048"/>
          </a:xfrm>
          <a:prstGeom prst="rect">
            <a:avLst/>
          </a:prstGeom>
          <a:solidFill>
            <a:srgbClr val="EBF5FB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24328" y="352958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Transfer Protocol (web)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" y="3877056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8328" y="391363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097280" y="3877056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61288" y="39136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560320" y="3877056"/>
            <a:ext cx="5486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24328" y="391363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Procedure Call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4462272"/>
            <a:ext cx="8595360" cy="475488"/>
          </a:xfrm>
          <a:prstGeom prst="rect">
            <a:avLst/>
          </a:prstGeom>
          <a:solidFill>
            <a:srgbClr val="FFF8E1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4489704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Ports 0–1023 are reserved 'well-known' ports assigned by IANA. Ports 1024–49151 are registered; 49152–65535 are dynamic/ephemeral.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Segment Format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TCP segment carries a header (≥20 bytes) followed by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2697480" cy="429768"/>
          </a:xfrm>
          <a:prstGeom prst="rect">
            <a:avLst/>
          </a:prstGeom>
          <a:solidFill>
            <a:srgbClr val="E3F2FD"/>
          </a:solidFill>
          <a:ln w="10160">
            <a:solidFill>
              <a:srgbClr val="AABB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" y="1261872"/>
            <a:ext cx="26243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Port (16 bits)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926080" y="1234440"/>
            <a:ext cx="2697480" cy="429768"/>
          </a:xfrm>
          <a:prstGeom prst="rect">
            <a:avLst/>
          </a:prstGeom>
          <a:solidFill>
            <a:srgbClr val="E8F5E9"/>
          </a:solidFill>
          <a:ln w="10160">
            <a:solidFill>
              <a:srgbClr val="AABB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2656" y="1261872"/>
            <a:ext cx="26243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Port (16 bits)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1664208"/>
            <a:ext cx="5394960" cy="429768"/>
          </a:xfrm>
          <a:prstGeom prst="rect">
            <a:avLst/>
          </a:prstGeom>
          <a:solidFill>
            <a:srgbClr val="FFF9C4"/>
          </a:solidFill>
          <a:ln w="10160">
            <a:solidFill>
              <a:srgbClr val="AABB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" y="1691640"/>
            <a:ext cx="53218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Number (32 bits)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2093976"/>
            <a:ext cx="5394960" cy="429768"/>
          </a:xfrm>
          <a:prstGeom prst="rect">
            <a:avLst/>
          </a:prstGeom>
          <a:solidFill>
            <a:srgbClr val="FCE4EC"/>
          </a:solidFill>
          <a:ln w="10160">
            <a:solidFill>
              <a:srgbClr val="AABB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" y="2121408"/>
            <a:ext cx="53218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Acknowledgment Number (32 bits)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523744"/>
            <a:ext cx="841248" cy="429768"/>
          </a:xfrm>
          <a:prstGeom prst="rect">
            <a:avLst/>
          </a:prstGeom>
          <a:solidFill>
            <a:srgbClr val="E8EAF6"/>
          </a:solidFill>
          <a:ln w="10160">
            <a:solidFill>
              <a:srgbClr val="AABB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" y="2551176"/>
            <a:ext cx="768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HLEN (4b)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69848" y="2523744"/>
            <a:ext cx="841248" cy="429768"/>
          </a:xfrm>
          <a:prstGeom prst="rect">
            <a:avLst/>
          </a:prstGeom>
          <a:solidFill>
            <a:srgbClr val="F3E5F5"/>
          </a:solidFill>
          <a:ln w="10160">
            <a:solidFill>
              <a:srgbClr val="AABB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6424" y="2551176"/>
            <a:ext cx="768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911096" y="2523744"/>
            <a:ext cx="1463040" cy="429768"/>
          </a:xfrm>
          <a:prstGeom prst="rect">
            <a:avLst/>
          </a:prstGeom>
          <a:solidFill>
            <a:srgbClr val="FFEB3B"/>
          </a:solidFill>
          <a:ln w="10160">
            <a:solidFill>
              <a:srgbClr val="AABB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47672" y="2551176"/>
            <a:ext cx="13898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 ACK PSH RST SYN FIN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74136" y="2523744"/>
            <a:ext cx="2249424" cy="429768"/>
          </a:xfrm>
          <a:prstGeom prst="rect">
            <a:avLst/>
          </a:prstGeom>
          <a:solidFill>
            <a:srgbClr val="E0F2F1"/>
          </a:solidFill>
          <a:ln w="10160">
            <a:solidFill>
              <a:srgbClr val="AABB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2551176"/>
            <a:ext cx="2176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Size (16 bits)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2953512"/>
            <a:ext cx="2697480" cy="429768"/>
          </a:xfrm>
          <a:prstGeom prst="rect">
            <a:avLst/>
          </a:prstGeom>
          <a:solidFill>
            <a:srgbClr val="F3E5F5"/>
          </a:solidFill>
          <a:ln w="10160">
            <a:solidFill>
              <a:srgbClr val="AABB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" y="2980944"/>
            <a:ext cx="26243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 (16 bits)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26080" y="2953512"/>
            <a:ext cx="2697480" cy="429768"/>
          </a:xfrm>
          <a:prstGeom prst="rect">
            <a:avLst/>
          </a:prstGeom>
          <a:solidFill>
            <a:srgbClr val="F3E5F5"/>
          </a:solidFill>
          <a:ln w="10160">
            <a:solidFill>
              <a:srgbClr val="AABB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62656" y="2980944"/>
            <a:ext cx="26243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Pointer (16 bits)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3383280"/>
            <a:ext cx="5394960" cy="429768"/>
          </a:xfrm>
          <a:prstGeom prst="rect">
            <a:avLst/>
          </a:prstGeom>
          <a:solidFill>
            <a:srgbClr val="E0F7FA"/>
          </a:solidFill>
          <a:ln w="10160">
            <a:solidFill>
              <a:srgbClr val="AABB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" y="3410712"/>
            <a:ext cx="53218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and Padding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760720" y="1444752"/>
            <a:ext cx="365760" cy="0"/>
          </a:xfrm>
          <a:prstGeom prst="line">
            <a:avLst/>
          </a:prstGeom>
          <a:noFill/>
          <a:ln w="10160">
            <a:solidFill>
              <a:srgbClr val="1C7293"/>
            </a:solidFill>
            <a:prstDash val="sysDot"/>
          </a:ln>
        </p:spPr>
      </p:sp>
      <p:sp>
        <p:nvSpPr>
          <p:cNvPr id="28" name="Shape 26"/>
          <p:cNvSpPr/>
          <p:nvPr/>
        </p:nvSpPr>
        <p:spPr>
          <a:xfrm>
            <a:off x="6126480" y="1280160"/>
            <a:ext cx="2788920" cy="347472"/>
          </a:xfrm>
          <a:prstGeom prst="rect">
            <a:avLst/>
          </a:prstGeom>
          <a:solidFill>
            <a:srgbClr val="E8F4F8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1307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Dest Port – identify processes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60720" y="1874520"/>
            <a:ext cx="365760" cy="0"/>
          </a:xfrm>
          <a:prstGeom prst="line">
            <a:avLst/>
          </a:prstGeom>
          <a:noFill/>
          <a:ln w="10160">
            <a:solidFill>
              <a:srgbClr val="1C7293"/>
            </a:solidFill>
            <a:prstDash val="sysDot"/>
          </a:ln>
        </p:spPr>
      </p:sp>
      <p:sp>
        <p:nvSpPr>
          <p:cNvPr id="31" name="Shape 29"/>
          <p:cNvSpPr/>
          <p:nvPr/>
        </p:nvSpPr>
        <p:spPr>
          <a:xfrm>
            <a:off x="6126480" y="1709928"/>
            <a:ext cx="2788920" cy="347472"/>
          </a:xfrm>
          <a:prstGeom prst="rect">
            <a:avLst/>
          </a:prstGeom>
          <a:solidFill>
            <a:srgbClr val="E8F4F8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1737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Seq. No. – position of 1st byte in this segment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60720" y="2304288"/>
            <a:ext cx="365760" cy="0"/>
          </a:xfrm>
          <a:prstGeom prst="line">
            <a:avLst/>
          </a:prstGeom>
          <a:noFill/>
          <a:ln w="10160">
            <a:solidFill>
              <a:srgbClr val="1C7293"/>
            </a:solidFill>
            <a:prstDash val="sysDot"/>
          </a:ln>
        </p:spPr>
      </p:sp>
      <p:sp>
        <p:nvSpPr>
          <p:cNvPr id="34" name="Shape 32"/>
          <p:cNvSpPr/>
          <p:nvPr/>
        </p:nvSpPr>
        <p:spPr>
          <a:xfrm>
            <a:off x="6126480" y="2139696"/>
            <a:ext cx="2788920" cy="347472"/>
          </a:xfrm>
          <a:prstGeom prst="rect">
            <a:avLst/>
          </a:prstGeom>
          <a:solidFill>
            <a:srgbClr val="E8F4F8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1671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 No. – next expected byte (cumulative)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760720" y="2734056"/>
            <a:ext cx="365760" cy="0"/>
          </a:xfrm>
          <a:prstGeom prst="line">
            <a:avLst/>
          </a:prstGeom>
          <a:noFill/>
          <a:ln w="10160">
            <a:solidFill>
              <a:srgbClr val="1C7293"/>
            </a:solidFill>
            <a:prstDash val="sysDot"/>
          </a:ln>
        </p:spPr>
      </p:sp>
      <p:sp>
        <p:nvSpPr>
          <p:cNvPr id="37" name="Shape 35"/>
          <p:cNvSpPr/>
          <p:nvPr/>
        </p:nvSpPr>
        <p:spPr>
          <a:xfrm>
            <a:off x="6126480" y="2569464"/>
            <a:ext cx="2788920" cy="347472"/>
          </a:xfrm>
          <a:prstGeom prst="rect">
            <a:avLst/>
          </a:prstGeom>
          <a:solidFill>
            <a:srgbClr val="E8F4F8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25968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– control bits (URG/ACK/PSH/RST/SYN/FIN)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760720" y="3163824"/>
            <a:ext cx="365760" cy="0"/>
          </a:xfrm>
          <a:prstGeom prst="line">
            <a:avLst/>
          </a:prstGeom>
          <a:noFill/>
          <a:ln w="10160">
            <a:solidFill>
              <a:srgbClr val="1C7293"/>
            </a:solidFill>
            <a:prstDash val="sysDot"/>
          </a:ln>
        </p:spPr>
      </p:sp>
      <p:sp>
        <p:nvSpPr>
          <p:cNvPr id="40" name="Shape 38"/>
          <p:cNvSpPr/>
          <p:nvPr/>
        </p:nvSpPr>
        <p:spPr>
          <a:xfrm>
            <a:off x="6126480" y="2999232"/>
            <a:ext cx="2788920" cy="347472"/>
          </a:xfrm>
          <a:prstGeom prst="rect">
            <a:avLst/>
          </a:prstGeom>
          <a:solidFill>
            <a:srgbClr val="E8F4F8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30266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– advertised buffer size for flow control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760720" y="3593592"/>
            <a:ext cx="365760" cy="0"/>
          </a:xfrm>
          <a:prstGeom prst="line">
            <a:avLst/>
          </a:prstGeom>
          <a:noFill/>
          <a:ln w="10160">
            <a:solidFill>
              <a:srgbClr val="1C7293"/>
            </a:solidFill>
            <a:prstDash val="sysDot"/>
          </a:ln>
        </p:spPr>
      </p:sp>
      <p:sp>
        <p:nvSpPr>
          <p:cNvPr id="43" name="Shape 41"/>
          <p:cNvSpPr/>
          <p:nvPr/>
        </p:nvSpPr>
        <p:spPr>
          <a:xfrm>
            <a:off x="6126480" y="3429000"/>
            <a:ext cx="2788920" cy="347472"/>
          </a:xfrm>
          <a:prstGeom prst="rect">
            <a:avLst/>
          </a:prstGeom>
          <a:solidFill>
            <a:srgbClr val="E8F4F8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34564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 – error detection over header + data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760720" y="4023360"/>
            <a:ext cx="365760" cy="0"/>
          </a:xfrm>
          <a:prstGeom prst="line">
            <a:avLst/>
          </a:prstGeom>
          <a:noFill/>
          <a:ln w="10160">
            <a:solidFill>
              <a:srgbClr val="1C7293"/>
            </a:solidFill>
            <a:prstDash val="sysDot"/>
          </a:ln>
        </p:spPr>
      </p:sp>
      <p:sp>
        <p:nvSpPr>
          <p:cNvPr id="46" name="Shape 44"/>
          <p:cNvSpPr/>
          <p:nvPr/>
        </p:nvSpPr>
        <p:spPr>
          <a:xfrm>
            <a:off x="6126480" y="3858768"/>
            <a:ext cx="2788920" cy="347472"/>
          </a:xfrm>
          <a:prstGeom prst="rect">
            <a:avLst/>
          </a:prstGeom>
          <a:solidFill>
            <a:srgbClr val="E8F4F8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72200" y="3886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– MSS, timestamps, SACK, window scaling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Control Flags (6-Bit Field)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bit has a distinct purpose in managing connection state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70432"/>
            <a:ext cx="2743200" cy="475488"/>
          </a:xfrm>
          <a:prstGeom prst="rect">
            <a:avLst/>
          </a:prstGeom>
          <a:solidFill>
            <a:srgbClr val="E57373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0700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47472" y="1700784"/>
            <a:ext cx="2560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Pointer is valid. Receiver delivers urgent data immediately without buffering. Used for out-of-band signaling.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17043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170432"/>
            <a:ext cx="2743200" cy="475488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20700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46120" y="1700784"/>
            <a:ext cx="2560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Acknowledgment field is valid. Present in all segments after connection establishment. Confirms receipt of data.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53328" y="117043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53328" y="1170432"/>
            <a:ext cx="2743200" cy="475488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120700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PSH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44768" y="1700784"/>
            <a:ext cx="2560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function. Tells receiver to flush buffered data to the application immediately instead of waiting for buffer to fill.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304495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3044952"/>
            <a:ext cx="2743200" cy="475488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08152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3575304"/>
            <a:ext cx="2560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the connection. Sent when a TCP segment arrives for a port with no listener, or to abort a connection immediately.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304495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3044952"/>
            <a:ext cx="2743200" cy="475488"/>
          </a:xfrm>
          <a:prstGeom prst="rect">
            <a:avLst/>
          </a:prstGeom>
          <a:solidFill>
            <a:srgbClr val="BA68C8"/>
          </a:solidFill>
          <a:ln w="12700">
            <a:solidFill>
              <a:srgbClr val="BA68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308152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246120" y="3575304"/>
            <a:ext cx="2560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 sequence numbers. Used ONLY during connection establishment (SYN, SYN+ACK). Consumes one sequence number.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53328" y="304495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53328" y="3044952"/>
            <a:ext cx="2743200" cy="475488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4768" y="308152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144768" y="3575304"/>
            <a:ext cx="2560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/ terminate. Used to close a connection gracefully. Also consumes one sequence number if no data is carried.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6032" y="4818888"/>
            <a:ext cx="8631936" cy="201168"/>
          </a:xfrm>
          <a:prstGeom prst="rect">
            <a:avLst/>
          </a:prstGeom>
          <a:solidFill>
            <a:srgbClr val="E8F4F8"/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28032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SYN+ACK ≠ carries data  |  FIN = graceful  |  RST = abrupt  |  ACK present in all data/control segments after handshake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Connection Establishment: Three-Way Handshake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initiates (active open), server listens (passive open)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1188720"/>
            <a:ext cx="0" cy="3657600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1188720"/>
            <a:ext cx="0" cy="3657600"/>
          </a:xfrm>
          <a:prstGeom prst="line">
            <a:avLst/>
          </a:prstGeom>
          <a:noFill/>
          <a:ln w="254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05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0" y="1005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17320" y="1828800"/>
            <a:ext cx="63093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34656" y="16916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1572768"/>
            <a:ext cx="4023360" cy="292608"/>
          </a:xfrm>
          <a:prstGeom prst="rect">
            <a:avLst/>
          </a:prstGeom>
          <a:solidFill>
            <a:srgbClr val="FAFCFF"/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591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 (seq=8000)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" y="193852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Client picks random ISN 8000, SYN flag set, no data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417320" y="2834640"/>
            <a:ext cx="6309360" cy="0"/>
          </a:xfrm>
          <a:prstGeom prst="line">
            <a:avLst/>
          </a:prstGeom>
          <a:noFill/>
          <a:ln w="31750">
            <a:solidFill>
              <a:srgbClr val="E65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26464" y="26974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5C00"/>
                </a:solidFill>
              </a:rPr>
              <a:t>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0" y="2578608"/>
            <a:ext cx="4023360" cy="292608"/>
          </a:xfrm>
          <a:prstGeom prst="rect">
            <a:avLst/>
          </a:prstGeom>
          <a:solidFill>
            <a:srgbClr val="FAFCFF"/>
          </a:solidFill>
          <a:ln w="10160">
            <a:solidFill>
              <a:srgbClr val="E65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25968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SYN+ACK  (seq=15000, ack=8001)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" y="29443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Server ISN=15000, acknowledges client's SYN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417320" y="3840480"/>
            <a:ext cx="6309360" cy="0"/>
          </a:xfrm>
          <a:prstGeom prst="line">
            <a:avLst/>
          </a:prstGeom>
          <a:noFill/>
          <a:ln w="31750">
            <a:solidFill>
              <a:srgbClr val="14A4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34656" y="3703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A44D"/>
                </a:solidFill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60320" y="3584448"/>
            <a:ext cx="4023360" cy="292608"/>
          </a:xfrm>
          <a:prstGeom prst="rect">
            <a:avLst/>
          </a:prstGeom>
          <a:solidFill>
            <a:srgbClr val="FAFCFF"/>
          </a:solidFill>
          <a:ln w="10160">
            <a:solidFill>
              <a:srgbClr val="14A4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36027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A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  (ack=15001)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2880" y="395020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Connection established! ACK-only segment, no sequence consumed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14A4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6908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SYN floods: attackers send many SYNs with spoofed IPs, filling the server's half-open queue. Mitigation: SYN cookies.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&amp; Acknowledgment Numbers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byte of data transferred in a TCP connection is numbered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88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54864" cy="1645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161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Byte-Level Numbering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45336"/>
            <a:ext cx="2606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byte of data has a unique sequence number. The sequence number in a segment = the number of its FIRST byte.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788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43000"/>
            <a:ext cx="54864" cy="1645920"/>
          </a:xfrm>
          <a:prstGeom prst="rect">
            <a:avLst/>
          </a:prstGeom>
          <a:solidFill>
            <a:srgbClr val="E65C00"/>
          </a:solidFill>
          <a:ln w="12700">
            <a:solidFill>
              <a:srgbClr val="E65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2161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ISN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545336"/>
            <a:ext cx="2606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Initial Sequence Number (ISN) is randomly generated to prevent old connection interference and improve security.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2788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43000"/>
            <a:ext cx="54864" cy="1645920"/>
          </a:xfrm>
          <a:prstGeom prst="rect">
            <a:avLst/>
          </a:prstGeom>
          <a:solidFill>
            <a:srgbClr val="14A44D"/>
          </a:solidFill>
          <a:ln w="12700">
            <a:solidFill>
              <a:srgbClr val="14A4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2161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ACK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545336"/>
            <a:ext cx="2606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acknowledgment number = next byte expected. Receiving ACK=5001 means all bytes up to 5000 were received.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5 Segments of 1000 bytes each, ISN = 10000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1371600" cy="320040"/>
          </a:xfrm>
          <a:prstGeom prst="rect">
            <a:avLst/>
          </a:prstGeom>
          <a:solidFill>
            <a:srgbClr val="0A2342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3264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28800" y="3246120"/>
            <a:ext cx="2011680" cy="320040"/>
          </a:xfrm>
          <a:prstGeom prst="rect">
            <a:avLst/>
          </a:prstGeom>
          <a:solidFill>
            <a:srgbClr val="0A2342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83664" y="3264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Number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40480" y="3246120"/>
            <a:ext cx="2286000" cy="320040"/>
          </a:xfrm>
          <a:prstGeom prst="rect">
            <a:avLst/>
          </a:prstGeom>
          <a:solidFill>
            <a:srgbClr val="0A2342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95344" y="3264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Range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3246120"/>
            <a:ext cx="2286000" cy="320040"/>
          </a:xfrm>
          <a:prstGeom prst="rect">
            <a:avLst/>
          </a:prstGeom>
          <a:solidFill>
            <a:srgbClr val="0A2342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3264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 Expected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566160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3584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828800" y="356616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83664" y="3584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10,001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840480" y="3566160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95344" y="3584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10,001 – 11,000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26480" y="3566160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81344" y="3584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11,001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3886200"/>
            <a:ext cx="1371600" cy="320040"/>
          </a:xfrm>
          <a:prstGeom prst="rect">
            <a:avLst/>
          </a:prstGeom>
          <a:solidFill>
            <a:srgbClr val="EBF5FB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" y="3904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828800" y="3886200"/>
            <a:ext cx="2011680" cy="320040"/>
          </a:xfrm>
          <a:prstGeom prst="rect">
            <a:avLst/>
          </a:prstGeom>
          <a:solidFill>
            <a:srgbClr val="EBF5FB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83664" y="39044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11,001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840480" y="3886200"/>
            <a:ext cx="2286000" cy="320040"/>
          </a:xfrm>
          <a:prstGeom prst="rect">
            <a:avLst/>
          </a:prstGeom>
          <a:solidFill>
            <a:srgbClr val="EBF5FB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95344" y="3904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11,001 – 12,000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26480" y="3886200"/>
            <a:ext cx="2286000" cy="320040"/>
          </a:xfrm>
          <a:prstGeom prst="rect">
            <a:avLst/>
          </a:prstGeom>
          <a:solidFill>
            <a:srgbClr val="EBF5FB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81344" y="3904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12,001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4206240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064" y="4224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828800" y="420624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83664" y="4224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12,001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840480" y="4206240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95344" y="4224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12,001 – 13,000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126480" y="4206240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81344" y="4224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13,001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57200" y="4526280"/>
            <a:ext cx="1371600" cy="320040"/>
          </a:xfrm>
          <a:prstGeom prst="rect">
            <a:avLst/>
          </a:prstGeom>
          <a:solidFill>
            <a:srgbClr val="EBF5FB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" y="4544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1828800" y="4526280"/>
            <a:ext cx="2011680" cy="320040"/>
          </a:xfrm>
          <a:prstGeom prst="rect">
            <a:avLst/>
          </a:prstGeom>
          <a:solidFill>
            <a:srgbClr val="EBF5FB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83664" y="4544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13,001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840480" y="4526280"/>
            <a:ext cx="2286000" cy="320040"/>
          </a:xfrm>
          <a:prstGeom prst="rect">
            <a:avLst/>
          </a:prstGeom>
          <a:solidFill>
            <a:srgbClr val="EBF5FB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95344" y="4544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13,001 – 14,000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126480" y="4526280"/>
            <a:ext cx="2286000" cy="320040"/>
          </a:xfrm>
          <a:prstGeom prst="rect">
            <a:avLst/>
          </a:prstGeom>
          <a:solidFill>
            <a:srgbClr val="EBF5FB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81344" y="4544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14,001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57200" y="4846320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2064" y="48646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1828800" y="4846320"/>
            <a:ext cx="2011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83664" y="4864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14,001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840480" y="4846320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95344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14,001 – 15,000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126480" y="4846320"/>
            <a:ext cx="2286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81344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15,001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Control &amp; Sliding Windows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the sender from overwhelming the receiver's buffer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170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1480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361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Receiver advertises rwnd (receive window) in every ACK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075688"/>
            <a:ext cx="4114800" cy="512064"/>
          </a:xfrm>
          <a:prstGeom prst="rect">
            <a:avLst/>
          </a:prstGeom>
          <a:solidFill>
            <a:srgbClr val="E3F2FD"/>
          </a:solidFill>
          <a:ln w="8890">
            <a:solidFill>
              <a:srgbClr val="C9D6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03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Sender keeps outstanding bytes ≤ rwnd at all times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642616"/>
            <a:ext cx="411480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700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When receiver consumes data, rwnd grows → window opens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209544"/>
            <a:ext cx="4114800" cy="512064"/>
          </a:xfrm>
          <a:prstGeom prst="rect">
            <a:avLst/>
          </a:prstGeom>
          <a:solidFill>
            <a:srgbClr val="E3F2FD"/>
          </a:solidFill>
          <a:ln w="8890">
            <a:solidFill>
              <a:srgbClr val="C9D6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2369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If receiver buffer fills, rwnd = 0 → sender pauses (zero window)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776472"/>
            <a:ext cx="411480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C9D6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8039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Persistence timer fires probe segments to re-check rwnd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170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Size Formulas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1508760"/>
            <a:ext cx="4114800" cy="1005840"/>
          </a:xfrm>
          <a:prstGeom prst="rect">
            <a:avLst/>
          </a:prstGeom>
          <a:solidFill>
            <a:srgbClr val="E3F2FD"/>
          </a:solidFill>
          <a:ln w="10160">
            <a:solidFill>
              <a:srgbClr val="AABB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15727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rwnd = Buffer Size − Unprocessed Bytes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19385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5000 − 1000 = 4000 bytes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624328"/>
            <a:ext cx="4114800" cy="1005840"/>
          </a:xfrm>
          <a:prstGeom prst="rect">
            <a:avLst/>
          </a:prstGeom>
          <a:solidFill>
            <a:srgbClr val="E8F5E9"/>
          </a:solidFill>
          <a:ln w="10160">
            <a:solidFill>
              <a:srgbClr val="AABB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26883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cwnd = Congestion window (set by sender)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0540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at 1 MSS, grows via slow-start/AIMD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739896"/>
            <a:ext cx="4114800" cy="1005840"/>
          </a:xfrm>
          <a:prstGeom prst="rect">
            <a:avLst/>
          </a:prstGeom>
          <a:solidFill>
            <a:srgbClr val="FFF9C4"/>
          </a:solidFill>
          <a:ln w="10160">
            <a:solidFill>
              <a:srgbClr val="AABB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38039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Window = min(rwnd, cwnd)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41696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min(3000, 3500) = 3000 bytes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645152"/>
            <a:ext cx="8595360" cy="384048"/>
          </a:xfrm>
          <a:prstGeom prst="rect">
            <a:avLst/>
          </a:prstGeom>
          <a:solidFill>
            <a:srgbClr val="FFFDE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67258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E3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risk: if rwnd=0 ACK is lost, sender waits forever. Solution: Persistence Timer sends periodic probes.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for Generating ACKs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uses delayed ACK and duplicate ACK strategies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90472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50876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126187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Piggybacking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77824" y="1609344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end sends data, it piggybacks an ACK for the data received so far, saving a separate ACK packet.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90872" y="1170432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82312" y="1490472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150876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12664" y="126187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ACK (500 ms)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12664" y="1609344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only one in-order segment is outstanding, wait up to 500 ms for another segment or data to send — then ACK. Reduces traffic.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6032" y="2496312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2816352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83464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7824" y="258775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 Unacked Segments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77824" y="2935224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allow more than 2 consecutive un-ACKed in-order segments. Prevents unnecessary retransmission from sender.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90872" y="2496312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82312" y="2816352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283464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12664" y="258775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Duplicate ACK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12664" y="2935224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out-of-order segment arrives (gap detected), immediately send a duplicate ACK for the last in-order byte. Triggers fast retransmit.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6032" y="3822192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" y="4142232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416052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77824" y="39136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Fill-the-Gap ACK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77824" y="4261104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missing segment finally arrives, send an ACK to announce the next expected sequence number.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90872" y="3822192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82312" y="4142232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416052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12664" y="39136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Segment ACK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312664" y="4261104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segment already received arrives again (duplicate), immediately send an ACK — so sender stops retransmitting.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56032" y="5093208"/>
            <a:ext cx="8631936" cy="22860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511149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duplicate ACKs → Fast Retransmit without waiting for RTO timeout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Timers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TCP implementations use at least four timers for reliable operation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4251960" cy="1783080"/>
          </a:xfrm>
          <a:prstGeom prst="rect">
            <a:avLst/>
          </a:prstGeom>
          <a:solidFill>
            <a:srgbClr val="E3F2FD"/>
          </a:solidFill>
          <a:ln w="12700">
            <a:solidFill>
              <a:srgbClr val="AABB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21615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126187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Retransmission (RTO)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" y="1810512"/>
            <a:ext cx="3977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when a segment is sent; stopped when ACK arrives. If timer expires, the segment is retransmitted. RTO is dynamically calculated from measured RTT.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90872" y="1170432"/>
            <a:ext cx="4251960" cy="1783080"/>
          </a:xfrm>
          <a:prstGeom prst="rect">
            <a:avLst/>
          </a:prstGeom>
          <a:solidFill>
            <a:srgbClr val="E8F5E9"/>
          </a:solidFill>
          <a:ln w="12700">
            <a:solidFill>
              <a:srgbClr val="AABB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82312" y="121615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🔁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40680" y="126187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28032" y="1810512"/>
            <a:ext cx="3977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zero-window deadlock. When rwnd=0, persistence timer fires and sends a probe segment. Doubles (like RTO backoff) up to 60 s until window reopens.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3090672"/>
            <a:ext cx="4251960" cy="1783080"/>
          </a:xfrm>
          <a:prstGeom prst="rect">
            <a:avLst/>
          </a:prstGeom>
          <a:solidFill>
            <a:srgbClr val="FFF9C4"/>
          </a:solidFill>
          <a:ln w="12700">
            <a:solidFill>
              <a:srgbClr val="AABB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" y="313639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💓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005840" y="318211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Keepalive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3192" y="3730752"/>
            <a:ext cx="3977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long-idle connections. After 2 hours of inactivity, TCP sends 10 probe segments at 75-second intervals. If no response, connection is closed.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90872" y="3090672"/>
            <a:ext cx="4251960" cy="1783080"/>
          </a:xfrm>
          <a:prstGeom prst="rect">
            <a:avLst/>
          </a:prstGeom>
          <a:solidFill>
            <a:srgbClr val="FCE4EC"/>
          </a:solidFill>
          <a:ln w="12700">
            <a:solidFill>
              <a:srgbClr val="AABB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82312" y="313639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🕐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40680" y="318211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TIME-WAIT (2MSL)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28032" y="3730752"/>
            <a:ext cx="3977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sending last ACK in connection close, the closing side waits 2× MSL (Maximum Segment Lifetime, typically 2 min) before fully closing. Prevents old segments from interfering with new connections.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Calculation – Jacobson's Algorithm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adapts its retransmission timeout dynamically using smoothed RTT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595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344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RTT (RTTS)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225296"/>
            <a:ext cx="5303520" cy="347472"/>
          </a:xfrm>
          <a:prstGeom prst="rect">
            <a:avLst/>
          </a:prstGeom>
          <a:solidFill>
            <a:srgbClr val="1C3D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24358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RTTS = (7/8)×RTTS + (1/8)×RTTM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7007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weighted moving average  (α = 1/8)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859536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AABB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3500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 Deviation (RTTD)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2340864"/>
            <a:ext cx="5303520" cy="347472"/>
          </a:xfrm>
          <a:prstGeom prst="rect">
            <a:avLst/>
          </a:prstGeom>
          <a:solidFill>
            <a:srgbClr val="1C3D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35915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RTTD = (3/4)×RTTD + (1/4)×|RTTS − RTTM|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28163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variance of RTT  (β = 1/4)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401568"/>
            <a:ext cx="8595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34655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Retransmission Timeout (RTO)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83280" y="3456432"/>
            <a:ext cx="5303520" cy="347472"/>
          </a:xfrm>
          <a:prstGeom prst="rect">
            <a:avLst/>
          </a:prstGeom>
          <a:solidFill>
            <a:srgbClr val="1C3D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347472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RTO = RTTS + 4×RTTD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9319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4σ rule — covers most real-world RTT jitter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498848"/>
            <a:ext cx="859536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14A4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517136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RTTM=1.5 s (1st measure) → RTTS=1.5, RTTD=0.75, RTO=1.5+4×0.75=4.5 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RTTM=2.5 s → RTTS=1.625, RTTD=0.78, RTO=1.625+4×0.78=4.74 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4709160"/>
            <a:ext cx="416052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C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7274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Karn's Algorithm: Never use RTT of a retransmitted segment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4709160"/>
            <a:ext cx="416052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47274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Backoff: RTO doubles on each retransmission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– What It Is &amp; Why It Matters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load exceeds capacity → packets delayed or dropped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59536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16152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occurs when the number of packets sent to the network is greater than the capacity of the network to handle them.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121408"/>
            <a:ext cx="4251960" cy="2514600"/>
          </a:xfrm>
          <a:prstGeom prst="rect">
            <a:avLst/>
          </a:prstGeom>
          <a:solidFill>
            <a:srgbClr val="E3F2FD"/>
          </a:solidFill>
          <a:ln w="12700">
            <a:solidFill>
              <a:srgbClr val="AABB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217627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Delay vs Load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578608"/>
            <a:ext cx="3977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remains low while load is below capacity. Once load exceeds capacity (congestion zone), queues fill and delay spikes exponentially. Packets time out and are retransmitted, worsening congestion.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2121408"/>
            <a:ext cx="4251960" cy="2514600"/>
          </a:xfrm>
          <a:prstGeom prst="rect">
            <a:avLst/>
          </a:prstGeom>
          <a:solidFill>
            <a:srgbClr val="E8F5E9"/>
          </a:solidFill>
          <a:ln w="12700">
            <a:solidFill>
              <a:srgbClr val="AABB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217627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Throughput vs Load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578608"/>
            <a:ext cx="3977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increases with load up to the capacity point. Beyond that, congestion causes widespread packet drops and retransmissions. Actual throughput FALLS even as more packets are injected.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solidFill>
            <a:srgbClr val="FFEBEE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75488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collapse: extreme congestion → throughput approaches zero. First observed in ARPANET 1986.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Control: Open-Loop vs Closed-Loop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broad categories of congestion management mechanisms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206240" cy="3749040"/>
          </a:xfrm>
          <a:prstGeom prst="rect">
            <a:avLst/>
          </a:prstGeom>
          <a:solidFill>
            <a:srgbClr val="EBF5FB"/>
          </a:solidFill>
          <a:ln w="1905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161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OPEN-LOOP (Prevention)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0934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system so congestion never happens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56816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7510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Retransmission Policy – when to retransmit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59736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7802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Window Policy – size &amp; type of window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62656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8094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Acknowledgment Policy – when to ACK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65576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8386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Discarding Policy – which packets to drop first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68496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8678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Admission Policy – refuse new connections if congested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170432"/>
            <a:ext cx="4206240" cy="3749040"/>
          </a:xfrm>
          <a:prstGeom prst="rect">
            <a:avLst/>
          </a:prstGeom>
          <a:solidFill>
            <a:srgbClr val="E8F5E9"/>
          </a:solidFill>
          <a:ln w="19050">
            <a:solidFill>
              <a:srgbClr val="14A44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12161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A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(Removal)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160934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detect, inform, adjust — feedback loop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956816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14A4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9842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Pressure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22402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router signals upstream to slow sending (VC only)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688336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14A4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715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Choke Packet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29718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Congested router sends ICMP Source Quench directly to sender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3419856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14A4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447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Signaling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7033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infers congestion from timeout or duplicate ACKs (TCP)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4151376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14A4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41788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Signaling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44348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BECN/FECN bits in Frame Relay; ECN bits in IP header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Congestion Control – AIMD Algorithm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Increase / Multiplicative Decrease with Slow Start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25196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4251960" cy="502920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1615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Slow Start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" y="1737360"/>
            <a:ext cx="40416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cwnd starts at 1 MSS. After each ACK received, cwnd += 1 MSS → doubles each RTT (exponential growth). Continues until cwnd ≥ ssthresh.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170432"/>
            <a:ext cx="425196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70432"/>
            <a:ext cx="4251960" cy="50292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1615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Congestion Avoidance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18888" y="1737360"/>
            <a:ext cx="40416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cwnd ≥ ssthresh, increase cwnd by 1 MSS per RTT (additive). Probes carefully for available bandwidth without risking collapse.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108960"/>
            <a:ext cx="425196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108960"/>
            <a:ext cx="4251960" cy="502920"/>
          </a:xfrm>
          <a:prstGeom prst="rect">
            <a:avLst/>
          </a:prstGeom>
          <a:solidFill>
            <a:srgbClr val="E57373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1546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Timeout Detected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4048" y="3675888"/>
            <a:ext cx="40416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ssthresh = cwnd/2  |  cwnd = 1 MSS. Reset to slow start. Severe congestion signal — connection must restart conservatively.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3108960"/>
            <a:ext cx="425196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108960"/>
            <a:ext cx="4251960" cy="50292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1546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3 Dup ACKs Detected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18888" y="3675888"/>
            <a:ext cx="40416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ssthresh = cwnd/2  |  cwnd = ssthresh. Jump to congestion avoidance (Fast Recovery). Mild congestion — no need for full slow-start reset.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5065776"/>
            <a:ext cx="8595360" cy="256032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50840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Window = min(rwnd, cwnd)  |  Both flow control and congestion control must be satisfied simultaneously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– Worked Example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cwnd through Slow Start, Congestion Avoidance, and Multiplicative Decrease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143000"/>
          <a:ext cx="54864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143000"/>
            <a:ext cx="2880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1143000"/>
            <a:ext cx="54864" cy="603504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08192" y="117043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Rnd 1–4 — Slow Start (SS)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08192" y="140817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cwnd doubles: 2→4→8→16. Threshold=16.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89320" y="1801368"/>
            <a:ext cx="2880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89320" y="1801368"/>
            <a:ext cx="54864" cy="603504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08192" y="182880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Rnd 5–7 — Congestion Avoidance (AI)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108192" y="206654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cwnd: 16+1=17, +1=18... until timeout at 20.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89320" y="2459736"/>
            <a:ext cx="2880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89320" y="2459736"/>
            <a:ext cx="54864" cy="603504"/>
          </a:xfrm>
          <a:prstGeom prst="rect">
            <a:avLst/>
          </a:prstGeom>
          <a:solidFill>
            <a:srgbClr val="E57373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08192" y="248716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Rnd 8 — Timeout → MD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108192" y="27249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ssthresh=10, cwnd=1. New slow start.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89320" y="3118104"/>
            <a:ext cx="2880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89320" y="3118104"/>
            <a:ext cx="54864" cy="603504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08192" y="314553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Rnd 9–11 — Slow Start again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108192" y="33832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cwnd doubles: 2→4→8→10 (hits new ssthresh).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989320" y="3776472"/>
            <a:ext cx="2880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989320" y="3776472"/>
            <a:ext cx="54864" cy="603504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08192" y="380390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Rnd 12–13 — Congestion Avoidance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108192" y="404164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10→11→12. 3 dup ACKs at 12.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989320" y="4434840"/>
            <a:ext cx="2880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989320" y="4434840"/>
            <a:ext cx="54864" cy="603504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08192" y="446227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Rnd 14 — 3 ACKs → Fast Recovery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108192" y="470001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ssthresh=6, cwnd=6 → resume AI at 7.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74320" y="4572000"/>
            <a:ext cx="8595360" cy="438912"/>
          </a:xfrm>
          <a:prstGeom prst="rect">
            <a:avLst/>
          </a:prstGeom>
          <a:solidFill>
            <a:srgbClr val="FFFDE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" y="459943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E3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Timeout = more severe (restart from 1 MSS). 3-Dup-ACKs = milder (Fast Recovery preserves higher cwnd).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Shaping: Leaky Bucket &amp; Token Bucket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Open-loop techniques to smooth bursty traffic before it enters the network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206240" cy="3749040"/>
          </a:xfrm>
          <a:prstGeom prst="rect">
            <a:avLst/>
          </a:prstGeom>
          <a:solidFill>
            <a:srgbClr val="EBF5FB"/>
          </a:solidFill>
          <a:ln w="1524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161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🪣  Leaky Bucket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Incoming packets enter a fixed-size queue (bucket)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13969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Packets leave at a CONSTANT rate regardless of arrival rate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61518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If bucket is full → excess packets are DISCARDED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309067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Converts bursty traffic into smooth, fixed-rate output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35661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Disadvantage: always outputs at fixed rate even when network is free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404164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Example: Input 12 Mbps burst → Output 3 Mbps steady stream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170432"/>
            <a:ext cx="4206240" cy="3749040"/>
          </a:xfrm>
          <a:prstGeom prst="rect">
            <a:avLst/>
          </a:prstGeom>
          <a:solidFill>
            <a:srgbClr val="E8F5E9"/>
          </a:solidFill>
          <a:ln w="15240">
            <a:solidFill>
              <a:srgbClr val="14A44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2161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A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🪙  Token Bucket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166420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Tokens added to bucket at a fixed rate (1 per tick)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0" y="213969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 packet can only be sent if a token is available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261518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Token consumed for each cell/packet transmitted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0" y="309067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Bucket has maximum capacity — excess tokens discarded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35661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Allows BURSTS as long as tokens are accumulated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404164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Advantage: permits short bursts while enforcing average rate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5029200"/>
            <a:ext cx="859536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504748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Bucket = strict fixed rate  |  Token Bucket = burstable up to bucket size  |  Both control average rate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– Transport Layer: Key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251960" cy="1207008"/>
          </a:xfrm>
          <a:prstGeom prst="rect">
            <a:avLst/>
          </a:prstGeom>
          <a:solidFill>
            <a:srgbClr val="0D2D4B"/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914400"/>
            <a:ext cx="35478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is connection-oriented, full-duplex, and byte-stream based. Setup via 3-way handshake (SYN/SYN-ACK/ACK).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251960" cy="1207008"/>
          </a:xfrm>
          <a:prstGeom prst="rect">
            <a:avLst/>
          </a:prstGeom>
          <a:solidFill>
            <a:srgbClr val="0D2D4B"/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76672" y="914400"/>
            <a:ext cx="35478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carry 32-bit seq/ack numbers. Seq = first byte in segment. ACK = next byte expected (cumulative).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194560"/>
            <a:ext cx="4251960" cy="1207008"/>
          </a:xfrm>
          <a:prstGeom prst="rect">
            <a:avLst/>
          </a:prstGeom>
          <a:solidFill>
            <a:srgbClr val="0D2D4B"/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67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🪟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41832" y="2286000"/>
            <a:ext cx="35478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Control uses rwnd to prevent buffer overflow. Effective window = min(rwnd, cwnd).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251960" cy="1207008"/>
          </a:xfrm>
          <a:prstGeom prst="rect">
            <a:avLst/>
          </a:prstGeom>
          <a:solidFill>
            <a:srgbClr val="0D2D4B"/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267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76672" y="2286000"/>
            <a:ext cx="35478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= RTTS + 4×RTTD, updated with Jacobson's algo. Karn's algo excludes retransmitted RTT. Backoff on retry.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566160"/>
            <a:ext cx="4251960" cy="1207008"/>
          </a:xfrm>
          <a:prstGeom prst="rect">
            <a:avLst/>
          </a:prstGeom>
          <a:solidFill>
            <a:srgbClr val="0D2D4B"/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639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41832" y="3657600"/>
            <a:ext cx="35478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Control: Slow Start (exponential) → Congestion Avoidance (additive) → Multiplicative Decrease on congestion.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566160"/>
            <a:ext cx="4251960" cy="1207008"/>
          </a:xfrm>
          <a:prstGeom prst="rect">
            <a:avLst/>
          </a:prstGeom>
          <a:solidFill>
            <a:srgbClr val="0D2D4B"/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639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🪣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76672" y="3657600"/>
            <a:ext cx="35478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shaping: Leaky Bucket = fixed output rate (drops excess); Token Bucket = allows bursts up to bucket capacity.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&amp; Systems  •  Week 3  •  Transport Layer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2358</Words>
  <Application>Microsoft Office PowerPoint</Application>
  <PresentationFormat>On-screen Show (16:9)</PresentationFormat>
  <Paragraphs>297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Transport Layer – TCP Congestion Control</dc:title>
  <dc:subject>PptxGenJS Presentation</dc:subject>
  <dc:creator>PptxGenJS</dc:creator>
  <cp:lastModifiedBy>Haritha R</cp:lastModifiedBy>
  <cp:revision>1</cp:revision>
  <dcterms:created xsi:type="dcterms:W3CDTF">2026-05-10T08:24:55Z</dcterms:created>
  <dcterms:modified xsi:type="dcterms:W3CDTF">2026-05-10T08:34:01Z</dcterms:modified>
</cp:coreProperties>
</file>